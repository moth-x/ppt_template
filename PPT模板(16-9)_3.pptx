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89" r:id="rId2"/>
    <p:sldId id="283" r:id="rId3"/>
    <p:sldId id="287" r:id="rId4"/>
    <p:sldId id="284" r:id="rId5"/>
    <p:sldId id="290" r:id="rId6"/>
    <p:sldId id="285" r:id="rId7"/>
    <p:sldId id="28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说明" id="{1F382AE6-B314-416A-8338-FAD0AF8AA6AB}">
          <p14:sldIdLst>
            <p14:sldId id="289"/>
          </p14:sldIdLst>
        </p14:section>
        <p14:section name="标题" id="{3AB6AD0D-002C-4405-B1E6-E49A2DC9F340}">
          <p14:sldIdLst>
            <p14:sldId id="283"/>
          </p14:sldIdLst>
        </p14:section>
        <p14:section name="内容" id="{3ABC3E97-797D-493B-A8F4-3BB35A5B15DA}">
          <p14:sldIdLst>
            <p14:sldId id="287"/>
            <p14:sldId id="284"/>
            <p14:sldId id="290"/>
            <p14:sldId id="285"/>
          </p14:sldIdLst>
        </p14:section>
        <p14:section name="致谢" id="{DBDB8790-58A9-47EF-8F26-722D8FCE7281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1561AD"/>
    <a:srgbClr val="DFEDFD"/>
    <a:srgbClr val="FFFFFF"/>
    <a:srgbClr val="4392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6238" autoAdjust="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F3DF899-7F6B-48BB-899D-1F61392E34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43B1EB-20AE-4C54-8C0E-0E55770074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DFC8C-BCD4-4F18-9CB1-A80C005EAFAF}" type="datetimeFigureOut">
              <a:rPr lang="zh-CN" altLang="en-US" smtClean="0"/>
              <a:t>2023/11/22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4B5FFB-09B6-4EB2-A628-83A3B67437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4549DD-F1F6-4DCB-AEEC-0F3850592A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FC5C3-1669-4797-8749-B16B7C9D4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988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98A9D-518B-48D4-A6D1-493EA80ABB3E}" type="datetimeFigureOut">
              <a:rPr lang="zh-CN" altLang="en-US" smtClean="0"/>
              <a:t>2023/11/22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B9994-425A-46C2-A704-ECAB64CF3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20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A1E3-81B4-4ED4-93EE-FBDCB8FB7A5A}" type="datetime1">
              <a:rPr lang="zh-CN" altLang="en-US" smtClean="0"/>
              <a:t>2023/11/22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D03E7F0-304D-380E-0A6F-31941700D17A}"/>
              </a:ext>
            </a:extLst>
          </p:cNvPr>
          <p:cNvSpPr txBox="1">
            <a:spLocks/>
          </p:cNvSpPr>
          <p:nvPr userDrawn="1"/>
        </p:nvSpPr>
        <p:spPr>
          <a:xfrm>
            <a:off x="1097283" y="6459789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A848-DD99-46A0-881F-08F7407E7456}" type="datetime1">
              <a:rPr lang="zh-CN" altLang="en-US" smtClean="0"/>
              <a:pPr/>
              <a:t>2023/11/22</a:t>
            </a:fld>
            <a:endParaRPr lang="zh-CN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9A0A1D-4195-DB99-0FFF-9D38D815C774}"/>
              </a:ext>
            </a:extLst>
          </p:cNvPr>
          <p:cNvSpPr txBox="1">
            <a:spLocks/>
          </p:cNvSpPr>
          <p:nvPr userDrawn="1"/>
        </p:nvSpPr>
        <p:spPr>
          <a:xfrm>
            <a:off x="3686187" y="6459789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1400" kern="12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8CE7CF2-0E11-01FA-4706-386538F6D5FF}"/>
              </a:ext>
            </a:extLst>
          </p:cNvPr>
          <p:cNvSpPr txBox="1">
            <a:spLocks/>
          </p:cNvSpPr>
          <p:nvPr userDrawn="1"/>
        </p:nvSpPr>
        <p:spPr>
          <a:xfrm>
            <a:off x="9900461" y="6459789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kern="12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1E3A4C-9EB6-44EF-8735-6A21F2E990A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CA01183-0805-46F6-1743-B974D4E6407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6335" y="1870867"/>
            <a:ext cx="12198335" cy="5503763"/>
            <a:chOff x="-6335" y="1870867"/>
            <a:chExt cx="12198335" cy="5503763"/>
          </a:xfrm>
        </p:grpSpPr>
        <p:pic>
          <p:nvPicPr>
            <p:cNvPr id="10" name="图片 9" descr="河边的城市&#10;&#10;描述已自动生成">
              <a:extLst>
                <a:ext uri="{FF2B5EF4-FFF2-40B4-BE49-F238E27FC236}">
                  <a16:creationId xmlns:a16="http://schemas.microsoft.com/office/drawing/2014/main" id="{CAD8DA2E-3275-59DA-B12C-E548E01667C9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2"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71" b="18094"/>
            <a:stretch/>
          </p:blipFill>
          <p:spPr>
            <a:xfrm>
              <a:off x="-6335" y="1870867"/>
              <a:ext cx="12192000" cy="5503763"/>
            </a:xfrm>
            <a:prstGeom prst="rect">
              <a:avLst/>
            </a:prstGeom>
            <a:effectLst>
              <a:softEdge rad="1270000"/>
            </a:effectLst>
          </p:spPr>
        </p:pic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2C59F7F0-3B7F-A6E7-A955-873F08473D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6335" y="2245829"/>
              <a:ext cx="12192000" cy="10852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0967B708-73F4-7218-A290-4E47683D67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-6333" y="3331047"/>
              <a:ext cx="12198333" cy="3576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" name="椭圆 17">
            <a:extLst>
              <a:ext uri="{FF2B5EF4-FFF2-40B4-BE49-F238E27FC236}">
                <a16:creationId xmlns:a16="http://schemas.microsoft.com/office/drawing/2014/main" id="{FE2BD179-7520-D646-01ED-BCC2B3FF8606}"/>
              </a:ext>
            </a:extLst>
          </p:cNvPr>
          <p:cNvSpPr/>
          <p:nvPr userDrawn="1"/>
        </p:nvSpPr>
        <p:spPr>
          <a:xfrm>
            <a:off x="857002" y="1601175"/>
            <a:ext cx="2536439" cy="25094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图片包含 游戏机, 房间, 盘子, 标志&#10;&#10;描述已自动生成">
            <a:extLst>
              <a:ext uri="{FF2B5EF4-FFF2-40B4-BE49-F238E27FC236}">
                <a16:creationId xmlns:a16="http://schemas.microsoft.com/office/drawing/2014/main" id="{038DEEF8-6649-F7A7-5A14-CFD6E05A32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74" y="1664378"/>
            <a:ext cx="2391093" cy="238305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19905" y="3368991"/>
            <a:ext cx="6935719" cy="282833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1600" cap="all" spc="0" baseline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 altLang="zh-CN" dirty="0"/>
              <a:t>2023/10/24</a:t>
            </a:r>
            <a:endParaRPr lang="en-US" dirty="0"/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ABB68E1A-CF07-00BF-7ED4-F79FC50394F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19904" y="2507224"/>
            <a:ext cx="6935719" cy="803779"/>
          </a:xfrm>
        </p:spPr>
        <p:txBody>
          <a:bodyPr>
            <a:normAutofit/>
          </a:bodyPr>
          <a:lstStyle>
            <a:lvl1pPr marL="0" indent="0" algn="ctr">
              <a:buNone/>
              <a:defRPr sz="4400" b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PPT</a:t>
            </a:r>
            <a:r>
              <a:rPr lang="zh-CN" altLang="en-US" dirty="0"/>
              <a:t>模板</a:t>
            </a:r>
            <a:r>
              <a:rPr lang="en-US" altLang="zh-CN" dirty="0"/>
              <a:t>(16:9)</a:t>
            </a:r>
          </a:p>
        </p:txBody>
      </p:sp>
    </p:spTree>
    <p:extLst>
      <p:ext uri="{BB962C8B-B14F-4D97-AF65-F5344CB8AC3E}">
        <p14:creationId xmlns:p14="http://schemas.microsoft.com/office/powerpoint/2010/main" val="314551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4BB090E-DBBF-0517-440C-AC11324D262C}"/>
              </a:ext>
            </a:extLst>
          </p:cNvPr>
          <p:cNvGrpSpPr/>
          <p:nvPr userDrawn="1"/>
        </p:nvGrpSpPr>
        <p:grpSpPr>
          <a:xfrm>
            <a:off x="18" y="6334316"/>
            <a:ext cx="12191985" cy="523684"/>
            <a:chOff x="18" y="6334316"/>
            <a:chExt cx="12191985" cy="52368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163015-3F15-C562-611A-ED2CA487EB5F}"/>
                </a:ext>
              </a:extLst>
            </p:cNvPr>
            <p:cNvSpPr/>
            <p:nvPr/>
          </p:nvSpPr>
          <p:spPr>
            <a:xfrm>
              <a:off x="3178" y="6400800"/>
              <a:ext cx="1218882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71E915-2A62-866C-187E-37B245E08EDC}"/>
                </a:ext>
              </a:extLst>
            </p:cNvPr>
            <p:cNvSpPr/>
            <p:nvPr/>
          </p:nvSpPr>
          <p:spPr>
            <a:xfrm>
              <a:off x="18" y="6334316"/>
              <a:ext cx="1218882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94C3D6-EBCC-A40A-B535-4296B3C5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0D87EC-854F-319C-C7AB-071A70B4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131E3A4C-9EB6-44EF-8735-6A21F2E990A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5588B2-3C4E-5A76-DA96-0B06AFF31565}"/>
              </a:ext>
            </a:extLst>
          </p:cNvPr>
          <p:cNvSpPr txBox="1"/>
          <p:nvPr userDrawn="1"/>
        </p:nvSpPr>
        <p:spPr>
          <a:xfrm>
            <a:off x="1065230" y="625962"/>
            <a:ext cx="1005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目录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624064F-AD3C-1EA2-BBA2-ECEDEE62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7283" y="6459789"/>
            <a:ext cx="2472271" cy="365125"/>
          </a:xfrm>
        </p:spPr>
        <p:txBody>
          <a:bodyPr/>
          <a:lstStyle>
            <a:lvl1pPr>
              <a:defRPr sz="1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110A4BC4-8E16-4637-B502-AC746853B355}" type="datetime1">
              <a:rPr lang="zh-CN" altLang="en-US" smtClean="0"/>
              <a:pPr/>
              <a:t>2023/11/22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59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（白底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49DE6422-3D10-A6A1-C5E5-A7A2AF382ADD}"/>
              </a:ext>
            </a:extLst>
          </p:cNvPr>
          <p:cNvGrpSpPr/>
          <p:nvPr userDrawn="1"/>
        </p:nvGrpSpPr>
        <p:grpSpPr>
          <a:xfrm>
            <a:off x="18" y="6334316"/>
            <a:ext cx="12191985" cy="523684"/>
            <a:chOff x="18" y="6334316"/>
            <a:chExt cx="12191985" cy="523684"/>
          </a:xfrm>
        </p:grpSpPr>
        <p:sp>
          <p:nvSpPr>
            <p:cNvPr id="7" name="Rectangle 6"/>
            <p:cNvSpPr/>
            <p:nvPr/>
          </p:nvSpPr>
          <p:spPr>
            <a:xfrm>
              <a:off x="3178" y="6400800"/>
              <a:ext cx="1218882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18" y="6334316"/>
              <a:ext cx="1218882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7519" y="701039"/>
            <a:ext cx="11236959" cy="5347335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标题为华文中宋（</a:t>
            </a:r>
            <a:r>
              <a:rPr lang="en-US" altLang="zh-CN" dirty="0"/>
              <a:t>24</a:t>
            </a:r>
            <a:r>
              <a:rPr lang="zh-CN" altLang="en-US" dirty="0"/>
              <a:t>）正文为楷体（</a:t>
            </a:r>
            <a:r>
              <a:rPr lang="en-US" altLang="zh-CN" dirty="0"/>
              <a:t>20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110A4BC4-8E16-4637-B502-AC746853B355}" type="datetime1">
              <a:rPr lang="zh-CN" altLang="en-US" smtClean="0"/>
              <a:pPr/>
              <a:t>2023/11/22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131E3A4C-9EB6-44EF-8735-6A21F2E990A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367F1CD-2221-8D60-4B1D-09B17AACDC56}"/>
              </a:ext>
            </a:extLst>
          </p:cNvPr>
          <p:cNvCxnSpPr/>
          <p:nvPr userDrawn="1"/>
        </p:nvCxnSpPr>
        <p:spPr>
          <a:xfrm flipV="1">
            <a:off x="477520" y="390348"/>
            <a:ext cx="11236960" cy="33697"/>
          </a:xfrm>
          <a:prstGeom prst="line">
            <a:avLst/>
          </a:prstGeom>
          <a:ln>
            <a:solidFill>
              <a:srgbClr val="1561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4">
            <a:extLst>
              <a:ext uri="{FF2B5EF4-FFF2-40B4-BE49-F238E27FC236}">
                <a16:creationId xmlns:a16="http://schemas.microsoft.com/office/drawing/2014/main" id="{32B600EC-BA53-097E-0B3B-A751BE7B8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510" y="33086"/>
            <a:ext cx="12196510" cy="365125"/>
          </a:xfrm>
        </p:spPr>
        <p:txBody>
          <a:bodyPr>
            <a:normAutofit/>
          </a:bodyPr>
          <a:lstStyle>
            <a:lvl1pPr algn="ctr">
              <a:defRPr sz="1800">
                <a:solidFill>
                  <a:srgbClr val="1561AD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pPr lvl="0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XXXX   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9056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（蓝底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3042098-ED7F-1AD2-D4A9-037B07C1E4E2}"/>
              </a:ext>
            </a:extLst>
          </p:cNvPr>
          <p:cNvSpPr/>
          <p:nvPr userDrawn="1"/>
        </p:nvSpPr>
        <p:spPr>
          <a:xfrm>
            <a:off x="0" y="-1"/>
            <a:ext cx="12188825" cy="424045"/>
          </a:xfrm>
          <a:prstGeom prst="rect">
            <a:avLst/>
          </a:prstGeom>
          <a:solidFill>
            <a:srgbClr val="1561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9DE6422-3D10-A6A1-C5E5-A7A2AF382ADD}"/>
              </a:ext>
            </a:extLst>
          </p:cNvPr>
          <p:cNvGrpSpPr/>
          <p:nvPr userDrawn="1"/>
        </p:nvGrpSpPr>
        <p:grpSpPr>
          <a:xfrm>
            <a:off x="18" y="6334316"/>
            <a:ext cx="12191985" cy="523684"/>
            <a:chOff x="18" y="6334316"/>
            <a:chExt cx="12191985" cy="523684"/>
          </a:xfrm>
        </p:grpSpPr>
        <p:sp>
          <p:nvSpPr>
            <p:cNvPr id="7" name="Rectangle 6"/>
            <p:cNvSpPr/>
            <p:nvPr/>
          </p:nvSpPr>
          <p:spPr>
            <a:xfrm>
              <a:off x="3178" y="6400800"/>
              <a:ext cx="1218882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18" y="6334316"/>
              <a:ext cx="1218882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7519" y="701039"/>
            <a:ext cx="11236959" cy="5347335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标题为华文中宋（</a:t>
            </a:r>
            <a:r>
              <a:rPr lang="en-US" altLang="zh-CN" dirty="0"/>
              <a:t>24</a:t>
            </a:r>
            <a:r>
              <a:rPr lang="zh-CN" altLang="en-US" dirty="0"/>
              <a:t>）正文为楷体（</a:t>
            </a:r>
            <a:r>
              <a:rPr lang="en-US" altLang="zh-CN" dirty="0"/>
              <a:t>20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110A4BC4-8E16-4637-B502-AC746853B355}" type="datetime1">
              <a:rPr lang="zh-CN" altLang="en-US" smtClean="0"/>
              <a:pPr/>
              <a:t>2023/11/22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131E3A4C-9EB6-44EF-8735-6A21F2E990A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" name="文本占位符 4">
            <a:extLst>
              <a:ext uri="{FF2B5EF4-FFF2-40B4-BE49-F238E27FC236}">
                <a16:creationId xmlns:a16="http://schemas.microsoft.com/office/drawing/2014/main" id="{AE90C739-8008-FB93-CF85-DF21F3D54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510" y="33086"/>
            <a:ext cx="12196510" cy="365125"/>
          </a:xfrm>
        </p:spPr>
        <p:txBody>
          <a:bodyPr>
            <a:normAutofit/>
          </a:bodyPr>
          <a:lstStyle>
            <a:lvl1pPr algn="ctr">
              <a:defRPr sz="18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pPr lvl="0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XXXX   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XXXX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01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DA1E3-81B4-4ED4-93EE-FBDCB8FB7A5A}" type="datetime1">
              <a:rPr lang="zh-CN" altLang="en-US" smtClean="0"/>
              <a:t>2023/11/22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D03E7F0-304D-380E-0A6F-31941700D17A}"/>
              </a:ext>
            </a:extLst>
          </p:cNvPr>
          <p:cNvSpPr txBox="1">
            <a:spLocks/>
          </p:cNvSpPr>
          <p:nvPr userDrawn="1"/>
        </p:nvSpPr>
        <p:spPr>
          <a:xfrm>
            <a:off x="1097283" y="6459789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CBA848-DD99-46A0-881F-08F7407E7456}" type="datetime1">
              <a:rPr lang="zh-CN" altLang="en-US" smtClean="0"/>
              <a:pPr/>
              <a:t>2023/11/22</a:t>
            </a:fld>
            <a:endParaRPr lang="zh-CN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9A0A1D-4195-DB99-0FFF-9D38D815C774}"/>
              </a:ext>
            </a:extLst>
          </p:cNvPr>
          <p:cNvSpPr txBox="1">
            <a:spLocks/>
          </p:cNvSpPr>
          <p:nvPr userDrawn="1"/>
        </p:nvSpPr>
        <p:spPr>
          <a:xfrm>
            <a:off x="3686187" y="6459789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1400" kern="12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8CE7CF2-0E11-01FA-4706-386538F6D5FF}"/>
              </a:ext>
            </a:extLst>
          </p:cNvPr>
          <p:cNvSpPr txBox="1">
            <a:spLocks/>
          </p:cNvSpPr>
          <p:nvPr userDrawn="1"/>
        </p:nvSpPr>
        <p:spPr>
          <a:xfrm>
            <a:off x="9900461" y="6459789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kern="12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1E3A4C-9EB6-44EF-8735-6A21F2E990A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CA01183-0805-46F6-1743-B974D4E6407F}"/>
              </a:ext>
            </a:extLst>
          </p:cNvPr>
          <p:cNvGrpSpPr>
            <a:grpSpLocks/>
          </p:cNvGrpSpPr>
          <p:nvPr userDrawn="1"/>
        </p:nvGrpSpPr>
        <p:grpSpPr>
          <a:xfrm>
            <a:off x="-6335" y="1870867"/>
            <a:ext cx="12198335" cy="5503763"/>
            <a:chOff x="-6335" y="1870867"/>
            <a:chExt cx="12198335" cy="5503763"/>
          </a:xfrm>
        </p:grpSpPr>
        <p:pic>
          <p:nvPicPr>
            <p:cNvPr id="10" name="图片 9" descr="河边的城市&#10;&#10;描述已自动生成">
              <a:extLst>
                <a:ext uri="{FF2B5EF4-FFF2-40B4-BE49-F238E27FC236}">
                  <a16:creationId xmlns:a16="http://schemas.microsoft.com/office/drawing/2014/main" id="{CAD8DA2E-3275-59DA-B12C-E548E01667C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2"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71" b="18094"/>
            <a:stretch/>
          </p:blipFill>
          <p:spPr>
            <a:xfrm>
              <a:off x="-6335" y="1870867"/>
              <a:ext cx="12192000" cy="5503763"/>
            </a:xfrm>
            <a:prstGeom prst="rect">
              <a:avLst/>
            </a:prstGeom>
            <a:effectLst>
              <a:softEdge rad="1270000"/>
            </a:effectLst>
          </p:spPr>
        </p:pic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2C59F7F0-3B7F-A6E7-A955-873F08473D0F}"/>
                </a:ext>
              </a:extLst>
            </p:cNvPr>
            <p:cNvSpPr>
              <a:spLocks/>
            </p:cNvSpPr>
            <p:nvPr userDrawn="1"/>
          </p:nvSpPr>
          <p:spPr>
            <a:xfrm>
              <a:off x="-6335" y="2245829"/>
              <a:ext cx="12192000" cy="10852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0967B708-73F4-7218-A290-4E47683D67C5}"/>
                </a:ext>
              </a:extLst>
            </p:cNvPr>
            <p:cNvSpPr>
              <a:spLocks/>
            </p:cNvSpPr>
            <p:nvPr userDrawn="1"/>
          </p:nvSpPr>
          <p:spPr>
            <a:xfrm>
              <a:off x="-6333" y="3331047"/>
              <a:ext cx="12198333" cy="3576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-12670" y="3385541"/>
            <a:ext cx="12198335" cy="282833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1600" cap="all" spc="0" baseline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189" indent="0" algn="ctr">
              <a:buNone/>
              <a:defRPr sz="2400"/>
            </a:lvl2pPr>
            <a:lvl3pPr marL="914377" indent="0" algn="ctr">
              <a:buNone/>
              <a:defRPr sz="2400"/>
            </a:lvl3pPr>
            <a:lvl4pPr marL="1371566" indent="0" algn="ctr">
              <a:buNone/>
              <a:defRPr sz="2000"/>
            </a:lvl4pPr>
            <a:lvl5pPr marL="1828754" indent="0" algn="ctr">
              <a:buNone/>
              <a:defRPr sz="2000"/>
            </a:lvl5pPr>
            <a:lvl6pPr marL="2285943" indent="0" algn="ctr">
              <a:buNone/>
              <a:defRPr sz="2000"/>
            </a:lvl6pPr>
            <a:lvl7pPr marL="2743131" indent="0" algn="ctr">
              <a:buNone/>
              <a:defRPr sz="2000"/>
            </a:lvl7pPr>
            <a:lvl8pPr marL="3200320" indent="0" algn="ctr">
              <a:buNone/>
              <a:defRPr sz="2000"/>
            </a:lvl8pPr>
            <a:lvl9pPr marL="3657509" indent="0" algn="ctr">
              <a:buNone/>
              <a:defRPr sz="2000"/>
            </a:lvl9pPr>
          </a:lstStyle>
          <a:p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en-US" dirty="0"/>
          </a:p>
        </p:txBody>
      </p:sp>
      <p:sp>
        <p:nvSpPr>
          <p:cNvPr id="28" name="内容占位符 27">
            <a:extLst>
              <a:ext uri="{FF2B5EF4-FFF2-40B4-BE49-F238E27FC236}">
                <a16:creationId xmlns:a16="http://schemas.microsoft.com/office/drawing/2014/main" id="{ABB68E1A-CF07-00BF-7ED4-F79FC50394F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" y="2452949"/>
            <a:ext cx="12185664" cy="803779"/>
          </a:xfrm>
        </p:spPr>
        <p:txBody>
          <a:bodyPr>
            <a:normAutofit/>
          </a:bodyPr>
          <a:lstStyle>
            <a:lvl1pPr marL="0" indent="0" algn="ctr">
              <a:buNone/>
              <a:defRPr sz="4400" b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pPr lvl="0"/>
            <a:r>
              <a:rPr lang="en-US" altLang="zh-CN" dirty="0"/>
              <a:t>Thanks! / </a:t>
            </a:r>
            <a:r>
              <a:rPr lang="zh-CN" altLang="en-US" dirty="0"/>
              <a:t>谢谢！</a:t>
            </a:r>
            <a:r>
              <a:rPr lang="en-US" altLang="zh-CN" dirty="0"/>
              <a:t> /</a:t>
            </a:r>
            <a:r>
              <a:rPr lang="zh-CN" altLang="en-US" dirty="0"/>
              <a:t>恳请各位老师批评指正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8865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3" y="6459789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A584CD-321A-481B-BBDE-F812A52067B7}" type="datetime1">
              <a:rPr lang="zh-CN" altLang="en-US" smtClean="0"/>
              <a:t>2023/11/22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7" y="6459789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400" kern="12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</a:lstStyle>
          <a:p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1" y="6459789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131E3A4C-9EB6-44EF-8735-6A21F2E990A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06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3" r:id="rId3"/>
    <p:sldLayoutId id="2147483671" r:id="rId4"/>
    <p:sldLayoutId id="2147483669" r:id="rId5"/>
  </p:sldLayoutIdLst>
  <p:hf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D2EC225-C610-419A-283E-0C72B0F19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zh-CN" altLang="en-US" dirty="0"/>
              <a:t>适用于山东财经大学燕山学院的</a:t>
            </a:r>
            <a:r>
              <a:rPr lang="en-US" altLang="zh-CN" dirty="0"/>
              <a:t>PPT</a:t>
            </a:r>
            <a:r>
              <a:rPr lang="zh-CN" altLang="en-US" dirty="0"/>
              <a:t>模板（</a:t>
            </a:r>
            <a:r>
              <a:rPr lang="en-US" altLang="zh-CN" dirty="0"/>
              <a:t>16</a:t>
            </a:r>
            <a:r>
              <a:rPr lang="zh-CN" altLang="en-US" dirty="0"/>
              <a:t>：</a:t>
            </a:r>
            <a:r>
              <a:rPr lang="en-US" altLang="zh-CN" dirty="0"/>
              <a:t>9</a:t>
            </a:r>
            <a:r>
              <a:rPr lang="zh-CN" altLang="en-US" dirty="0"/>
              <a:t>，第三版）</a:t>
            </a: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zh-CN" altLang="en-US" dirty="0"/>
              <a:t>字体采用华文中宋（标题）</a:t>
            </a:r>
            <a:r>
              <a:rPr lang="en-US" altLang="zh-CN" dirty="0"/>
              <a:t>+</a:t>
            </a:r>
            <a:r>
              <a:rPr lang="zh-CN" altLang="en-US" dirty="0"/>
              <a:t>楷体（正文）</a:t>
            </a: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zh-CN" altLang="en-US" dirty="0"/>
              <a:t>配色方案：</a:t>
            </a: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zh-CN" altLang="en-US" dirty="0"/>
              <a:t>使用插入</a:t>
            </a:r>
            <a:r>
              <a:rPr lang="en-US" altLang="zh-CN" dirty="0"/>
              <a:t>——</a:t>
            </a:r>
            <a:r>
              <a:rPr lang="zh-CN" altLang="en-US" dirty="0"/>
              <a:t>新建幻灯片可插入不同版式幻灯片</a:t>
            </a:r>
            <a:endParaRPr lang="en-US" altLang="zh-CN" dirty="0"/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2AACBA-12EF-7D8B-25D8-EF0E170A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E3DC48-05BF-11B0-BC98-12FE45B4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pPr/>
              <a:t>1</a:t>
            </a:fld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899C3E-E2AF-9344-2BB5-361B7F723B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说明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C20ECB-9FF5-7563-757E-1E36D405F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503924"/>
              </p:ext>
            </p:extLst>
          </p:nvPr>
        </p:nvGraphicFramePr>
        <p:xfrm>
          <a:off x="3981112" y="2906395"/>
          <a:ext cx="42252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265">
                  <a:extLst>
                    <a:ext uri="{9D8B030D-6E8A-4147-A177-3AD203B41FA5}">
                      <a16:colId xmlns:a16="http://schemas.microsoft.com/office/drawing/2014/main" val="2418048438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04215380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537090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配色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配色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46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图形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1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9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97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上方标题（白底）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1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065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上方标题（蓝底）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61A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52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91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AD0B4735-D3F8-1F95-815E-A5E47EAE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EFC9FB4-A965-FAA4-3823-50BABFBF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33E704A0-9F5C-AB89-6D44-14E557CB3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2024/11/14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B678356-325C-A08A-E0FF-29537F6D23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PPT</a:t>
            </a:r>
            <a:r>
              <a:rPr lang="zh-CN" altLang="en-US" b="1" dirty="0"/>
              <a:t>模板</a:t>
            </a:r>
            <a:r>
              <a:rPr lang="en-US" altLang="zh-CN" b="1" dirty="0"/>
              <a:t>(16:9)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6221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45BD2083-160F-FA14-91B0-1C58A7F0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D9A014E-7C26-6C44-391D-12F74248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A07904-7736-46D0-2A68-F9CCB6775387}"/>
              </a:ext>
            </a:extLst>
          </p:cNvPr>
          <p:cNvSpPr/>
          <p:nvPr/>
        </p:nvSpPr>
        <p:spPr>
          <a:xfrm>
            <a:off x="3246120" y="1870477"/>
            <a:ext cx="5699760" cy="573843"/>
          </a:xfrm>
          <a:prstGeom prst="rect">
            <a:avLst/>
          </a:prstGeom>
          <a:solidFill>
            <a:schemeClr val="bg1"/>
          </a:solidFill>
          <a:ln w="28575">
            <a:solidFill>
              <a:srgbClr val="1561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课题背景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31C3A2-9AE8-4852-DA49-04C0F7DD2AC7}"/>
              </a:ext>
            </a:extLst>
          </p:cNvPr>
          <p:cNvSpPr/>
          <p:nvPr/>
        </p:nvSpPr>
        <p:spPr>
          <a:xfrm>
            <a:off x="3246120" y="2586019"/>
            <a:ext cx="5699760" cy="573843"/>
          </a:xfrm>
          <a:prstGeom prst="rect">
            <a:avLst/>
          </a:prstGeom>
          <a:solidFill>
            <a:schemeClr val="bg1"/>
          </a:solidFill>
          <a:ln w="28575">
            <a:solidFill>
              <a:srgbClr val="1561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研究现状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48E108-2CCF-6F8B-29FD-C02D53B937DB}"/>
              </a:ext>
            </a:extLst>
          </p:cNvPr>
          <p:cNvSpPr/>
          <p:nvPr/>
        </p:nvSpPr>
        <p:spPr>
          <a:xfrm>
            <a:off x="3246120" y="3312755"/>
            <a:ext cx="5699760" cy="573843"/>
          </a:xfrm>
          <a:prstGeom prst="rect">
            <a:avLst/>
          </a:prstGeom>
          <a:solidFill>
            <a:schemeClr val="bg1"/>
          </a:solidFill>
          <a:ln w="28575">
            <a:solidFill>
              <a:srgbClr val="1561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研究内容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CBCE0C-0A20-DBE5-2E62-DF3A3B441BC6}"/>
              </a:ext>
            </a:extLst>
          </p:cNvPr>
          <p:cNvSpPr/>
          <p:nvPr/>
        </p:nvSpPr>
        <p:spPr>
          <a:xfrm>
            <a:off x="3246120" y="4039491"/>
            <a:ext cx="5699760" cy="573843"/>
          </a:xfrm>
          <a:prstGeom prst="rect">
            <a:avLst/>
          </a:prstGeom>
          <a:solidFill>
            <a:schemeClr val="bg1"/>
          </a:solidFill>
          <a:ln w="28575">
            <a:solidFill>
              <a:srgbClr val="1561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 </a:t>
            </a:r>
            <a:r>
              <a:rPr lang="zh-CN" altLang="en-US" sz="2400" dirty="0">
                <a:ln w="76200">
                  <a:noFill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42888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9E33AB4-42FE-5ED0-057C-5DC828945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XXXX</a:t>
            </a:r>
          </a:p>
          <a:p>
            <a:r>
              <a:rPr lang="en-US" altLang="zh-CN" sz="2400" dirty="0">
                <a:solidFill>
                  <a:srgbClr val="1561A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000" dirty="0">
                <a:solidFill>
                  <a:srgbClr val="1561A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XXXX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XXXX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FA2796-0406-D853-8583-FFE1FAF1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767698-272B-1E99-0DBE-B037A8E5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26F249-D880-B8FB-9BE8-76A52CBAA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课题背景    </a:t>
            </a:r>
            <a:r>
              <a:rPr lang="zh-CN" alt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研究现状    研究内容    参考文献</a:t>
            </a:r>
          </a:p>
        </p:txBody>
      </p:sp>
    </p:spTree>
    <p:extLst>
      <p:ext uri="{BB962C8B-B14F-4D97-AF65-F5344CB8AC3E}">
        <p14:creationId xmlns:p14="http://schemas.microsoft.com/office/powerpoint/2010/main" val="116984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FD4F13-4F90-6962-93CE-FC6B5041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FCE69E-3253-328F-1E3A-1B5F8A95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E6302C-0AEA-226E-17EC-7B20B33C03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课题背景   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研究现状    研究内容    参考文献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69F66C5-A9AE-37B9-E968-606F75715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en-US" altLang="zh-CN" dirty="0"/>
              <a:t>XXXX</a:t>
            </a:r>
          </a:p>
          <a:p>
            <a:r>
              <a:rPr lang="en-US" altLang="zh-CN" sz="2400" dirty="0">
                <a:solidFill>
                  <a:srgbClr val="1561A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000" dirty="0">
                <a:solidFill>
                  <a:srgbClr val="1561AD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XXXX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XXXX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268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4875B1-4921-90B9-DD99-93A5FC75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A1FE7A-C765-9E8B-B5CE-31DA8E78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5CC010-175F-E35C-5A9B-6DF533D892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部件库</a:t>
            </a:r>
            <a:endParaRPr lang="zh-CN" altLang="en-US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6D14568-D24E-3473-4510-1069352BDEC4}"/>
              </a:ext>
            </a:extLst>
          </p:cNvPr>
          <p:cNvSpPr txBox="1"/>
          <p:nvPr/>
        </p:nvSpPr>
        <p:spPr>
          <a:xfrm>
            <a:off x="436880" y="701043"/>
            <a:ext cx="1131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部件库</a:t>
            </a:r>
            <a:endParaRPr lang="zh-CN" altLang="en-US" sz="20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graphicFrame>
        <p:nvGraphicFramePr>
          <p:cNvPr id="16" name="表格 5">
            <a:extLst>
              <a:ext uri="{FF2B5EF4-FFF2-40B4-BE49-F238E27FC236}">
                <a16:creationId xmlns:a16="http://schemas.microsoft.com/office/drawing/2014/main" id="{636FE7C3-9724-0116-4E2F-97279AFE6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659316"/>
              </p:ext>
            </p:extLst>
          </p:nvPr>
        </p:nvGraphicFramePr>
        <p:xfrm>
          <a:off x="1968778" y="1347367"/>
          <a:ext cx="8254444" cy="1275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062">
                  <a:extLst>
                    <a:ext uri="{9D8B030D-6E8A-4147-A177-3AD203B41FA5}">
                      <a16:colId xmlns:a16="http://schemas.microsoft.com/office/drawing/2014/main" val="1869591410"/>
                    </a:ext>
                  </a:extLst>
                </a:gridCol>
                <a:gridCol w="2509202">
                  <a:extLst>
                    <a:ext uri="{9D8B030D-6E8A-4147-A177-3AD203B41FA5}">
                      <a16:colId xmlns:a16="http://schemas.microsoft.com/office/drawing/2014/main" val="1429138482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3009701758"/>
                    </a:ext>
                  </a:extLst>
                </a:gridCol>
                <a:gridCol w="2129790">
                  <a:extLst>
                    <a:ext uri="{9D8B030D-6E8A-4147-A177-3AD203B41FA5}">
                      <a16:colId xmlns:a16="http://schemas.microsoft.com/office/drawing/2014/main" val="2493349964"/>
                    </a:ext>
                  </a:extLst>
                </a:gridCol>
              </a:tblGrid>
              <a:tr h="3189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类型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模型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Y</a:t>
                      </a: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的类型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例子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648165"/>
                  </a:ext>
                </a:extLst>
              </a:tr>
              <a:tr h="3189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线性回归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OLS</a:t>
                      </a: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、</a:t>
                      </a:r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GLS</a:t>
                      </a: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（最小二乘）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连续数值性变量</a:t>
                      </a:r>
                      <a:endParaRPr lang="en-US" altLang="zh-C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GDP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、产量、收入</a:t>
                      </a:r>
                      <a:endParaRPr lang="en-US" altLang="zh-C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735604"/>
                  </a:ext>
                </a:extLst>
              </a:tr>
              <a:tr h="3189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0-1</a:t>
                      </a: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回归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Logistic</a:t>
                      </a: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回归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二值变量（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0-1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是否违约、是否得病</a:t>
                      </a:r>
                      <a:endParaRPr lang="en-US" altLang="zh-CN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977015"/>
                  </a:ext>
                </a:extLst>
              </a:tr>
              <a:tr h="3189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定序回归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Probit</a:t>
                      </a: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定序回归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定序变量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等级评定（优良差）</a:t>
                      </a:r>
                      <a:endParaRPr lang="en-US" altLang="zh-CN" sz="18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970186"/>
                  </a:ext>
                </a:extLst>
              </a:tr>
            </a:tbl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2AAF286A-C182-53B2-207F-DEA4EC3A2810}"/>
              </a:ext>
            </a:extLst>
          </p:cNvPr>
          <p:cNvGrpSpPr/>
          <p:nvPr/>
        </p:nvGrpSpPr>
        <p:grpSpPr>
          <a:xfrm>
            <a:off x="2313432" y="2807662"/>
            <a:ext cx="7565136" cy="858310"/>
            <a:chOff x="2313432" y="1866930"/>
            <a:chExt cx="7565136" cy="85831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303C0B1-E900-88C7-587A-423F70CC9074}"/>
                </a:ext>
              </a:extLst>
            </p:cNvPr>
            <p:cNvSpPr/>
            <p:nvPr/>
          </p:nvSpPr>
          <p:spPr>
            <a:xfrm>
              <a:off x="2368296" y="1901364"/>
              <a:ext cx="7510272" cy="823875"/>
            </a:xfrm>
            <a:prstGeom prst="rect">
              <a:avLst/>
            </a:prstGeom>
            <a:solidFill>
              <a:srgbClr val="FBFB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C574A02-83F3-DAC5-FE7F-BA3EA9F755D7}"/>
                </a:ext>
              </a:extLst>
            </p:cNvPr>
            <p:cNvGrpSpPr/>
            <p:nvPr/>
          </p:nvGrpSpPr>
          <p:grpSpPr>
            <a:xfrm>
              <a:off x="2313432" y="1866930"/>
              <a:ext cx="7510272" cy="858310"/>
              <a:chOff x="2350008" y="1744130"/>
              <a:chExt cx="7510272" cy="858310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BCEA38E-AE18-A212-C881-DA77678FF226}"/>
                  </a:ext>
                </a:extLst>
              </p:cNvPr>
              <p:cNvSpPr txBox="1"/>
              <p:nvPr/>
            </p:nvSpPr>
            <p:spPr>
              <a:xfrm>
                <a:off x="2404872" y="1836558"/>
                <a:ext cx="74554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具体引用的格式，每种期刊其实要求都有所不同。但核心就是，引用到正确的地方，以及出处要清晰明确。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077B221-CE81-56C0-27C3-22ECEAB922E3}"/>
                  </a:ext>
                </a:extLst>
              </p:cNvPr>
              <p:cNvSpPr/>
              <p:nvPr/>
            </p:nvSpPr>
            <p:spPr>
              <a:xfrm>
                <a:off x="2350008" y="1744130"/>
                <a:ext cx="54864" cy="858310"/>
              </a:xfrm>
              <a:prstGeom prst="rect">
                <a:avLst/>
              </a:prstGeom>
              <a:solidFill>
                <a:schemeClr val="bg1">
                  <a:lumMod val="75000"/>
                  <a:alpha val="32157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09FF0179-4EF7-D8EC-3513-4B48D3C3615C}"/>
              </a:ext>
            </a:extLst>
          </p:cNvPr>
          <p:cNvSpPr txBox="1"/>
          <p:nvPr/>
        </p:nvSpPr>
        <p:spPr>
          <a:xfrm>
            <a:off x="3896473" y="3836720"/>
            <a:ext cx="44539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图</a:t>
            </a:r>
            <a:r>
              <a:rPr lang="en-US" altLang="zh-CN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1-1  OECD</a:t>
            </a:r>
            <a:r>
              <a:rPr lang="zh-CN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英国领先指标领先英国经济增长</a:t>
            </a:r>
            <a:r>
              <a:rPr lang="en-US" altLang="zh-CN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1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3" name="表格 2">
            <a:extLst>
              <a:ext uri="{FF2B5EF4-FFF2-40B4-BE49-F238E27FC236}">
                <a16:creationId xmlns:a16="http://schemas.microsoft.com/office/drawing/2014/main" id="{F3888774-C13B-4F2A-78B1-657D20B7B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970304"/>
              </p:ext>
            </p:extLst>
          </p:nvPr>
        </p:nvGraphicFramePr>
        <p:xfrm>
          <a:off x="2566288" y="4392792"/>
          <a:ext cx="711428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429">
                  <a:extLst>
                    <a:ext uri="{9D8B030D-6E8A-4147-A177-3AD203B41FA5}">
                      <a16:colId xmlns:a16="http://schemas.microsoft.com/office/drawing/2014/main" val="2988636786"/>
                    </a:ext>
                  </a:extLst>
                </a:gridCol>
                <a:gridCol w="2371429">
                  <a:extLst>
                    <a:ext uri="{9D8B030D-6E8A-4147-A177-3AD203B41FA5}">
                      <a16:colId xmlns:a16="http://schemas.microsoft.com/office/drawing/2014/main" val="1377277352"/>
                    </a:ext>
                  </a:extLst>
                </a:gridCol>
                <a:gridCol w="2371429">
                  <a:extLst>
                    <a:ext uri="{9D8B030D-6E8A-4147-A177-3AD203B41FA5}">
                      <a16:colId xmlns:a16="http://schemas.microsoft.com/office/drawing/2014/main" val="3670196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6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22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22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三线表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14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56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F07DFEAD-FFEE-3711-7256-7FEABE5F4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PPT</a:t>
            </a:r>
            <a:r>
              <a:rPr lang="zh-CN" altLang="en-US"/>
              <a:t>模板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D7B9D2-4EB4-0C3D-9EED-547D4B5F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3A4C-9EB6-44EF-8735-6A21F2E990A2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33037087-8D88-2383-A4C0-173051293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168" y="3382963"/>
            <a:ext cx="12198335" cy="28283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E3FB3A6E-E104-1F8E-FF87-A21706AB9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2452688"/>
            <a:ext cx="12185650" cy="803275"/>
          </a:xfrm>
        </p:spPr>
        <p:txBody>
          <a:bodyPr/>
          <a:lstStyle/>
          <a:p>
            <a:r>
              <a:rPr lang="en-US" altLang="zh-CN" dirty="0"/>
              <a:t>Thanks! / </a:t>
            </a:r>
            <a:r>
              <a:rPr lang="zh-CN" altLang="en-US" dirty="0"/>
              <a:t>谢谢！</a:t>
            </a:r>
            <a:r>
              <a:rPr lang="en-US" altLang="zh-CN" dirty="0"/>
              <a:t> /</a:t>
            </a:r>
            <a:r>
              <a:rPr lang="zh-CN" altLang="en-US" dirty="0"/>
              <a:t>恳请各位老师批评指正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683363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自定义 4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4392F1"/>
      </a:accent1>
      <a:accent2>
        <a:srgbClr val="1561AD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5706</TotalTime>
  <Words>263</Words>
  <Application>Microsoft Office PowerPoint</Application>
  <PresentationFormat>宽屏</PresentationFormat>
  <Paragraphs>75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黑体</vt:lpstr>
      <vt:lpstr>华文宋体</vt:lpstr>
      <vt:lpstr>华文中宋</vt:lpstr>
      <vt:lpstr>楷体</vt:lpstr>
      <vt:lpstr>Arial</vt:lpstr>
      <vt:lpstr>Calibri</vt:lpstr>
      <vt:lpstr>Calibri Light</vt:lpstr>
      <vt:lpstr>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蛀 虫</dc:creator>
  <cp:lastModifiedBy>Feng Feng</cp:lastModifiedBy>
  <cp:revision>975</cp:revision>
  <dcterms:created xsi:type="dcterms:W3CDTF">2022-04-28T01:46:59Z</dcterms:created>
  <dcterms:modified xsi:type="dcterms:W3CDTF">2023-11-22T08:45:19Z</dcterms:modified>
</cp:coreProperties>
</file>